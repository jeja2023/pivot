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0000">
            <a:solidFill>
              <a:srgbClr val="F5F8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502920" y="1417320"/>
            <a:ext cx="1005840" cy="9144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58368" y="1664208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3700" b="1">
                <a:solidFill>
                  <a:srgbClr val="10233F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633472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000">
                <a:solidFill>
                  <a:srgbClr val="475467"/>
                </a:solidFill>
                <a:latin typeface="Microsoft YaHei"/>
                <a:ea typeface="Microsoft YaHei"/>
              </a:rPr>
              <a:t>数据汇聚 · 智能研判 · 闭环治理 · 实战赋能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3657600"/>
            <a:ext cx="10835640" cy="1143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914400" y="3959352"/>
            <a:ext cx="1874519" cy="475488"/>
          </a:xfrm>
          <a:prstGeom prst="round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87552" y="405079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建设背景</a:t>
            </a:r>
          </a:p>
        </p:txBody>
      </p:sp>
      <p:sp>
        <p:nvSpPr>
          <p:cNvPr id="23" name="Shape 23"/>
          <p:cNvSpPr/>
          <p:nvPr/>
        </p:nvSpPr>
        <p:spPr>
          <a:xfrm>
            <a:off x="2971800" y="3959352"/>
            <a:ext cx="1874519" cy="475488"/>
          </a:xfrm>
          <a:prstGeom prst="round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3044952" y="405079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0" y="3959352"/>
            <a:ext cx="1874519" cy="475488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5102352" y="405079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实战成效</a:t>
            </a:r>
          </a:p>
        </p:txBody>
      </p:sp>
      <p:sp>
        <p:nvSpPr>
          <p:cNvPr id="29" name="Shape 29"/>
          <p:cNvSpPr/>
          <p:nvPr/>
        </p:nvSpPr>
        <p:spPr>
          <a:xfrm>
            <a:off x="7086600" y="3959352"/>
            <a:ext cx="1874519" cy="475488"/>
          </a:xfrm>
          <a:prstGeom prst="round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7159752" y="405079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创新亮点</a:t>
            </a:r>
          </a:p>
        </p:txBody>
      </p:sp>
      <p:sp>
        <p:nvSpPr>
          <p:cNvPr id="32" name="Shape 32"/>
          <p:cNvSpPr/>
          <p:nvPr/>
        </p:nvSpPr>
        <p:spPr>
          <a:xfrm>
            <a:off x="9144000" y="3959352"/>
            <a:ext cx="1874519" cy="475488"/>
          </a:xfrm>
          <a:prstGeom prst="roundRect">
            <a:avLst/>
          </a:prstGeom>
          <a:solidFill>
            <a:srgbClr val="7A5AF8"/>
          </a:solidFill>
          <a:ln w="10000">
            <a:solidFill>
              <a:srgbClr val="7A5AF8"/>
            </a:solidFill>
          </a:ln>
        </p:spPr>
        <p:txBody>
          <a:bodyPr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9217152" y="405079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推广前景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5800" y="5596128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300">
                <a:solidFill>
                  <a:srgbClr val="667085"/>
                </a:solidFill>
                <a:latin typeface="Microsoft YaHei"/>
                <a:ea typeface="Microsoft YaHei"/>
              </a:rPr>
              <a:t>阶段性汇报版 | 依据《项目阶段性总结报告》整理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一、建设背景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面向公安研判与实战处置，推动业务由经验驱动向“数据 + 智能”双驱动升级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1417320"/>
            <a:ext cx="3520440" cy="41605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1417320"/>
            <a:ext cx="91440" cy="4160520"/>
          </a:xfrm>
          <a:prstGeom prst="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86968" y="1554480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F5EA8"/>
                </a:solidFill>
                <a:latin typeface="Microsoft YaHei"/>
                <a:ea typeface="Microsoft YaHei"/>
              </a:rPr>
              <a:t>现实需求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968" y="1920240"/>
            <a:ext cx="3136392" cy="3520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警情、案件、人员、轨迹、研判要素分散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线下流转依赖经验，过程留痕不足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跨模块统计口径易分叉，复盘成本高</a:t>
            </a:r>
          </a:p>
        </p:txBody>
      </p:sp>
      <p:sp>
        <p:nvSpPr>
          <p:cNvPr id="30" name="Shape 30"/>
          <p:cNvSpPr/>
          <p:nvPr/>
        </p:nvSpPr>
        <p:spPr>
          <a:xfrm>
            <a:off x="4434840" y="1417320"/>
            <a:ext cx="3520440" cy="41605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434840" y="1417320"/>
            <a:ext cx="91440" cy="416052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4636008" y="1554480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7A8C7"/>
                </a:solidFill>
                <a:latin typeface="Microsoft YaHei"/>
                <a:ea typeface="Microsoft YaHei"/>
              </a:rPr>
              <a:t>建设目标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36008" y="1920240"/>
            <a:ext cx="3136392" cy="3520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流程在线化、数据标准化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管理可视化、决策智能化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能力可持续化，形成治理闭环</a:t>
            </a:r>
          </a:p>
        </p:txBody>
      </p:sp>
      <p:sp>
        <p:nvSpPr>
          <p:cNvPr id="40" name="Shape 40"/>
          <p:cNvSpPr/>
          <p:nvPr/>
        </p:nvSpPr>
        <p:spPr>
          <a:xfrm>
            <a:off x="8183879" y="1417320"/>
            <a:ext cx="3337560" cy="41605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183879" y="1417320"/>
            <a:ext cx="91440" cy="4160520"/>
          </a:xfrm>
          <a:prstGeom prst="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8385047" y="1554480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D8A23A"/>
                </a:solidFill>
                <a:latin typeface="Microsoft YaHei"/>
                <a:ea typeface="Microsoft YaHei"/>
              </a:rPr>
              <a:t>建设原则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85047" y="1920240"/>
            <a:ext cx="2953512" cy="3520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实战优先：贴近一线办理与研判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安全可控：权限、脱敏、审计贯穿全链路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分步迭代：兼容现网，稳态演进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二、技术架构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形成“业务功能板块 + 人工智能能力体系 + 系统治理底座”的三层能力版图</a:t>
            </a:r>
          </a:p>
        </p:txBody>
      </p:sp>
      <p:sp>
        <p:nvSpPr>
          <p:cNvPr id="20" name="Shape 20"/>
          <p:cNvSpPr/>
          <p:nvPr/>
        </p:nvSpPr>
        <p:spPr>
          <a:xfrm>
            <a:off x="868680" y="1325880"/>
            <a:ext cx="10424160" cy="804672"/>
          </a:xfrm>
          <a:prstGeom prst="roundRect">
            <a:avLst/>
          </a:prstGeom>
          <a:solidFill>
            <a:srgbClr val="EAF2FF"/>
          </a:solidFill>
          <a:ln w="10000">
            <a:solidFill>
              <a:srgbClr val="B8D5FF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1143000" y="148132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450" b="1">
                <a:solidFill>
                  <a:srgbClr val="10233F"/>
                </a:solidFill>
                <a:latin typeface="Microsoft YaHei"/>
                <a:ea typeface="Microsoft YaHei"/>
              </a:rPr>
              <a:t>业务功能板块：案件中心、智析隐案、智瞰态势、智策参谋、智库中心、在逃查询、研判服务、政务勤务、系统设置</a:t>
            </a:r>
          </a:p>
        </p:txBody>
      </p:sp>
      <p:sp>
        <p:nvSpPr>
          <p:cNvPr id="22" name="Shape 22"/>
          <p:cNvSpPr/>
          <p:nvPr/>
        </p:nvSpPr>
        <p:spPr>
          <a:xfrm>
            <a:off x="868680" y="2395728"/>
            <a:ext cx="10424160" cy="804672"/>
          </a:xfrm>
          <a:prstGeom prst="roundRect">
            <a:avLst/>
          </a:prstGeom>
          <a:solidFill>
            <a:srgbClr val="E8FAFD"/>
          </a:solidFill>
          <a:ln w="10000">
            <a:solidFill>
              <a:srgbClr val="AAE6F0"/>
            </a:solidFill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1143000" y="255117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450" b="1">
                <a:solidFill>
                  <a:srgbClr val="0B6173"/>
                </a:solidFill>
                <a:latin typeface="Microsoft YaHei"/>
                <a:ea typeface="Microsoft YaHei"/>
              </a:rPr>
              <a:t>人工智能能力体系：全息智脑、分析助手、RAG、结构化直出、态势简报、图谱辅助、案件复盘辅助</a:t>
            </a:r>
          </a:p>
        </p:txBody>
      </p:sp>
      <p:sp>
        <p:nvSpPr>
          <p:cNvPr id="24" name="Shape 24"/>
          <p:cNvSpPr/>
          <p:nvPr/>
        </p:nvSpPr>
        <p:spPr>
          <a:xfrm>
            <a:off x="868680" y="3465576"/>
            <a:ext cx="10424160" cy="804672"/>
          </a:xfrm>
          <a:prstGeom prst="roundRect">
            <a:avLst/>
          </a:prstGeom>
          <a:solidFill>
            <a:srgbClr val="FFF7E6"/>
          </a:solidFill>
          <a:ln w="10000">
            <a:solidFill>
              <a:srgbClr val="F3D28A"/>
            </a:solidFill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143000" y="3621024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450" b="1">
                <a:solidFill>
                  <a:srgbClr val="7A4E00"/>
                </a:solidFill>
                <a:latin typeface="Microsoft YaHei"/>
                <a:ea typeface="Microsoft YaHei"/>
              </a:rPr>
              <a:t>系统治理底座：参数配置、Provider 治理、授权审计、心跳监控、数据同步、权限基线、导入导出安全</a:t>
            </a:r>
          </a:p>
        </p:txBody>
      </p:sp>
      <p:sp>
        <p:nvSpPr>
          <p:cNvPr id="30" name="Shape 30"/>
          <p:cNvSpPr/>
          <p:nvPr/>
        </p:nvSpPr>
        <p:spPr>
          <a:xfrm>
            <a:off x="1097280" y="4709160"/>
            <a:ext cx="2057400" cy="502920"/>
          </a:xfrm>
          <a:prstGeom prst="round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1161288" y="48280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数据汇聚</a:t>
            </a:r>
          </a:p>
        </p:txBody>
      </p:sp>
      <p:sp>
        <p:nvSpPr>
          <p:cNvPr id="31" name="Shape 31"/>
          <p:cNvSpPr/>
          <p:nvPr/>
        </p:nvSpPr>
        <p:spPr>
          <a:xfrm>
            <a:off x="3474720" y="4709160"/>
            <a:ext cx="2057400" cy="502920"/>
          </a:xfrm>
          <a:prstGeom prst="round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3538727" y="48280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业务办理</a:t>
            </a:r>
          </a:p>
        </p:txBody>
      </p:sp>
      <p:sp>
        <p:nvSpPr>
          <p:cNvPr id="32" name="Shape 32"/>
          <p:cNvSpPr/>
          <p:nvPr/>
        </p:nvSpPr>
        <p:spPr>
          <a:xfrm>
            <a:off x="5852160" y="4709160"/>
            <a:ext cx="2057400" cy="502920"/>
          </a:xfrm>
          <a:prstGeom prst="round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5916168" y="48280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智能分析</a:t>
            </a:r>
          </a:p>
        </p:txBody>
      </p:sp>
      <p:sp>
        <p:nvSpPr>
          <p:cNvPr id="33" name="Shape 33"/>
          <p:cNvSpPr/>
          <p:nvPr/>
        </p:nvSpPr>
        <p:spPr>
          <a:xfrm>
            <a:off x="8229600" y="4709160"/>
            <a:ext cx="2057400" cy="502920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8293608" y="48280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治理审计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三、业务能力版图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围绕警情、案件、人员、轨迹、研判五类核心要素，构建确定性业务闭环</a:t>
            </a:r>
          </a:p>
        </p:txBody>
      </p:sp>
      <p:sp>
        <p:nvSpPr>
          <p:cNvPr id="20" name="Shape 20"/>
          <p:cNvSpPr/>
          <p:nvPr/>
        </p:nvSpPr>
        <p:spPr>
          <a:xfrm>
            <a:off x="658368" y="1298448"/>
            <a:ext cx="27432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58368" y="1298448"/>
            <a:ext cx="91440" cy="1828800"/>
          </a:xfrm>
          <a:prstGeom prst="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59536" y="143560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F5EA8"/>
                </a:solidFill>
                <a:latin typeface="Microsoft YaHei"/>
                <a:ea typeface="Microsoft YaHei"/>
              </a:rPr>
              <a:t>案件中心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536" y="1801368"/>
            <a:ext cx="235915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盯警盯案、涉案人员、现场勘查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图侦研判、措施监管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统计汇总与导出口径统一</a:t>
            </a:r>
          </a:p>
        </p:txBody>
      </p:sp>
      <p:sp>
        <p:nvSpPr>
          <p:cNvPr id="30" name="Shape 30"/>
          <p:cNvSpPr/>
          <p:nvPr/>
        </p:nvSpPr>
        <p:spPr>
          <a:xfrm>
            <a:off x="3611880" y="1298448"/>
            <a:ext cx="27432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611880" y="1298448"/>
            <a:ext cx="91440" cy="182880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3813048" y="143560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7A8C7"/>
                </a:solidFill>
                <a:latin typeface="Microsoft YaHei"/>
                <a:ea typeface="Microsoft YaHei"/>
              </a:rPr>
              <a:t>智析隐案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13048" y="1801368"/>
            <a:ext cx="235915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串并案件、案件复盘、图谱穿透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上传-解析-查看-AI提取-冲突比对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报告预览与状态保存</a:t>
            </a:r>
          </a:p>
        </p:txBody>
      </p:sp>
      <p:sp>
        <p:nvSpPr>
          <p:cNvPr id="40" name="Shape 40"/>
          <p:cNvSpPr/>
          <p:nvPr/>
        </p:nvSpPr>
        <p:spPr>
          <a:xfrm>
            <a:off x="6565392" y="1298448"/>
            <a:ext cx="2724912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6565392" y="1298448"/>
            <a:ext cx="91440" cy="1828800"/>
          </a:xfrm>
          <a:prstGeom prst="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6766560" y="143560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2E8B57"/>
                </a:solidFill>
                <a:latin typeface="Microsoft YaHei"/>
                <a:ea typeface="Microsoft YaHei"/>
              </a:rPr>
              <a:t>智瞰态势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66560" y="1801368"/>
            <a:ext cx="2340864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数据大屏、态势简报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全域地图与时空热力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多图层同屏与热点推演</a:t>
            </a:r>
          </a:p>
        </p:txBody>
      </p:sp>
      <p:sp>
        <p:nvSpPr>
          <p:cNvPr id="50" name="Shape 50"/>
          <p:cNvSpPr/>
          <p:nvPr/>
        </p:nvSpPr>
        <p:spPr>
          <a:xfrm>
            <a:off x="658368" y="3429000"/>
            <a:ext cx="27432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658368" y="3429000"/>
            <a:ext cx="91440" cy="1828800"/>
          </a:xfrm>
          <a:prstGeom prst="rect">
            <a:avLst/>
          </a:prstGeom>
          <a:solidFill>
            <a:srgbClr val="7A5AF8"/>
          </a:solidFill>
          <a:ln w="10000">
            <a:solidFill>
              <a:srgbClr val="7A5AF8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59536" y="35661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7A5AF8"/>
                </a:solidFill>
                <a:latin typeface="Microsoft YaHei"/>
                <a:ea typeface="Microsoft YaHei"/>
              </a:rPr>
              <a:t>智策参谋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9536" y="3931920"/>
            <a:ext cx="235915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全息智脑与分析助手双入口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结构化分析与业务辅助决策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附件研判、导出留痕、评价反馈</a:t>
            </a:r>
          </a:p>
        </p:txBody>
      </p:sp>
      <p:sp>
        <p:nvSpPr>
          <p:cNvPr id="60" name="Shape 60"/>
          <p:cNvSpPr/>
          <p:nvPr/>
        </p:nvSpPr>
        <p:spPr>
          <a:xfrm>
            <a:off x="3611880" y="3429000"/>
            <a:ext cx="27432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3611880" y="3429000"/>
            <a:ext cx="91440" cy="1828800"/>
          </a:xfrm>
          <a:prstGeom prst="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3813048" y="35661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D8A23A"/>
                </a:solidFill>
                <a:latin typeface="Microsoft YaHei"/>
                <a:ea typeface="Microsoft YaHei"/>
              </a:rPr>
              <a:t>智库中心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813048" y="3931920"/>
            <a:ext cx="235915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文档上传、解析、切片、向量化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混合检索与来源预览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宏观/精准订阅配置</a:t>
            </a:r>
          </a:p>
        </p:txBody>
      </p:sp>
      <p:sp>
        <p:nvSpPr>
          <p:cNvPr id="70" name="Shape 70"/>
          <p:cNvSpPr/>
          <p:nvPr/>
        </p:nvSpPr>
        <p:spPr>
          <a:xfrm>
            <a:off x="6565392" y="3429000"/>
            <a:ext cx="2724912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565392" y="3429000"/>
            <a:ext cx="91440" cy="1828800"/>
          </a:xfrm>
          <a:prstGeom prst="rect">
            <a:avLst/>
          </a:prstGeom>
          <a:solidFill>
            <a:srgbClr val="C84A4A"/>
          </a:solidFill>
          <a:ln w="10000">
            <a:solidFill>
              <a:srgbClr val="C84A4A"/>
            </a:solidFill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766560" y="3566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C84A4A"/>
                </a:solidFill>
                <a:latin typeface="Microsoft YaHei"/>
                <a:ea typeface="Microsoft YaHei"/>
              </a:rPr>
              <a:t>保障模块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766560" y="3931920"/>
            <a:ext cx="2340864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在逃查询、研判服务、政务勤务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系统设置、公告、日志、数据同步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权限基线与现网适配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四、人工智能与治理体系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从“聊天工具”升级为可执行、可审计、可进化的智能能力体系</a:t>
            </a:r>
          </a:p>
        </p:txBody>
      </p:sp>
      <p:sp>
        <p:nvSpPr>
          <p:cNvPr id="20" name="Shape 20"/>
          <p:cNvSpPr/>
          <p:nvPr/>
        </p:nvSpPr>
        <p:spPr>
          <a:xfrm>
            <a:off x="713232" y="1298448"/>
            <a:ext cx="3246120" cy="1600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713232" y="1298448"/>
            <a:ext cx="91440" cy="1600200"/>
          </a:xfrm>
          <a:prstGeom prst="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914400" y="1435608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F5EA8"/>
                </a:solidFill>
                <a:latin typeface="Microsoft YaHei"/>
                <a:ea typeface="Microsoft YaHei"/>
              </a:rPr>
              <a:t>智能路由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1801368"/>
            <a:ext cx="2862072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自然语言意图识别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分流到问答、RAG、工具调用、数据直出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避免大模型“一锅端”</a:t>
            </a:r>
          </a:p>
        </p:txBody>
      </p:sp>
      <p:sp>
        <p:nvSpPr>
          <p:cNvPr id="30" name="Shape 30"/>
          <p:cNvSpPr/>
          <p:nvPr/>
        </p:nvSpPr>
        <p:spPr>
          <a:xfrm>
            <a:off x="4279392" y="1298448"/>
            <a:ext cx="3246120" cy="1600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279392" y="1298448"/>
            <a:ext cx="91440" cy="160020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4480560" y="1435608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7A8C7"/>
                </a:solidFill>
                <a:latin typeface="Microsoft YaHei"/>
                <a:ea typeface="Microsoft YaHei"/>
              </a:rPr>
              <a:t>业务工具编排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80560" y="1801368"/>
            <a:ext cx="2862072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案件、人员、措施、在逃、现勘等工具化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授权范围内调用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结构化结果便于核对复用</a:t>
            </a:r>
          </a:p>
        </p:txBody>
      </p:sp>
      <p:sp>
        <p:nvSpPr>
          <p:cNvPr id="40" name="Shape 40"/>
          <p:cNvSpPr/>
          <p:nvPr/>
        </p:nvSpPr>
        <p:spPr>
          <a:xfrm>
            <a:off x="7845552" y="1298448"/>
            <a:ext cx="3246120" cy="1600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45552" y="1298448"/>
            <a:ext cx="91440" cy="1600200"/>
          </a:xfrm>
          <a:prstGeom prst="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8046720" y="1435608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2E8B57"/>
                </a:solidFill>
                <a:latin typeface="Microsoft YaHei"/>
                <a:ea typeface="Microsoft YaHei"/>
              </a:rPr>
              <a:t>检索增强生成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46720" y="1801368"/>
            <a:ext cx="2862072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文档解析、切片、向量索引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关键词 + 语义混合检索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片段脱敏与长度控制</a:t>
            </a:r>
          </a:p>
        </p:txBody>
      </p:sp>
      <p:sp>
        <p:nvSpPr>
          <p:cNvPr id="50" name="Shape 50"/>
          <p:cNvSpPr/>
          <p:nvPr/>
        </p:nvSpPr>
        <p:spPr>
          <a:xfrm>
            <a:off x="713232" y="3273552"/>
            <a:ext cx="3246120" cy="1600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713232" y="3273552"/>
            <a:ext cx="91440" cy="1600200"/>
          </a:xfrm>
          <a:prstGeom prst="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914400" y="3410712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D8A23A"/>
                </a:solidFill>
                <a:latin typeface="Microsoft YaHei"/>
                <a:ea typeface="Microsoft YaHei"/>
              </a:rPr>
              <a:t>结构化直出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4400" y="3776472"/>
            <a:ext cx="2862072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明确列表/条件查询由后台直出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减少模型自由发挥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默认不混入主观评分样本</a:t>
            </a:r>
          </a:p>
        </p:txBody>
      </p:sp>
      <p:sp>
        <p:nvSpPr>
          <p:cNvPr id="60" name="Shape 60"/>
          <p:cNvSpPr/>
          <p:nvPr/>
        </p:nvSpPr>
        <p:spPr>
          <a:xfrm>
            <a:off x="4279392" y="3273552"/>
            <a:ext cx="3246120" cy="1600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4279392" y="3273552"/>
            <a:ext cx="91440" cy="1600200"/>
          </a:xfrm>
          <a:prstGeom prst="rect">
            <a:avLst/>
          </a:prstGeom>
          <a:solidFill>
            <a:srgbClr val="C84A4A"/>
          </a:solidFill>
          <a:ln w="10000">
            <a:solidFill>
              <a:srgbClr val="C84A4A"/>
            </a:solidFill>
          </a:ln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4480560" y="3410712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C84A4A"/>
                </a:solidFill>
                <a:latin typeface="Microsoft YaHei"/>
                <a:ea typeface="Microsoft YaHei"/>
              </a:rPr>
              <a:t>Provider 强治理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480560" y="3776472"/>
            <a:ext cx="2862072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业务取数统一供应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场景绑定、字段白名单、启停治理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未注册/禁用直接失败并留痕</a:t>
            </a:r>
          </a:p>
        </p:txBody>
      </p:sp>
      <p:sp>
        <p:nvSpPr>
          <p:cNvPr id="70" name="Shape 70"/>
          <p:cNvSpPr/>
          <p:nvPr/>
        </p:nvSpPr>
        <p:spPr>
          <a:xfrm>
            <a:off x="7845552" y="3273552"/>
            <a:ext cx="3246120" cy="1600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7845552" y="3273552"/>
            <a:ext cx="91440" cy="1600200"/>
          </a:xfrm>
          <a:prstGeom prst="rect">
            <a:avLst/>
          </a:prstGeom>
          <a:solidFill>
            <a:srgbClr val="7A5AF8"/>
          </a:solidFill>
          <a:ln w="10000">
            <a:solidFill>
              <a:srgbClr val="7A5AF8"/>
            </a:solidFill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8046720" y="3410712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7A5AF8"/>
                </a:solidFill>
                <a:latin typeface="Microsoft YaHei"/>
                <a:ea typeface="Microsoft YaHei"/>
              </a:rPr>
              <a:t>反馈进化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046720" y="3776472"/>
            <a:ext cx="2862072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评价反馈、意图纠错、错题样本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优质样本提权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长期记忆与运营质检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五、实战成效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形成可操作流程、可追溯数据链路与可治理智能能力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1325880"/>
            <a:ext cx="10972800" cy="1005840"/>
          </a:xfrm>
          <a:prstGeom prst="roundRect">
            <a:avLst/>
          </a:prstGeom>
          <a:solidFill>
            <a:srgbClr val="F5F8FC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900" b="1">
                <a:solidFill>
                  <a:srgbClr val="10233F"/>
                </a:solidFill>
                <a:latin typeface="Microsoft YaHei"/>
                <a:ea typeface="Microsoft YaHei"/>
              </a:rPr>
              <a:t>六条端到端闭环：警情到处置、现场到图侦、资料到复盘、数据到态势、知识到问答、风险到治理</a:t>
            </a:r>
          </a:p>
        </p:txBody>
      </p:sp>
      <p:sp>
        <p:nvSpPr>
          <p:cNvPr id="30" name="Shape 30"/>
          <p:cNvSpPr/>
          <p:nvPr/>
        </p:nvSpPr>
        <p:spPr>
          <a:xfrm>
            <a:off x="713232" y="2697480"/>
            <a:ext cx="2514600" cy="21488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13232" y="2697480"/>
            <a:ext cx="91440" cy="2148840"/>
          </a:xfrm>
          <a:prstGeom prst="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283464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F5EA8"/>
                </a:solidFill>
                <a:latin typeface="Microsoft YaHei"/>
                <a:ea typeface="Microsoft YaHei"/>
              </a:rPr>
              <a:t>业务成效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3200400"/>
            <a:ext cx="2130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核心模块稳定运行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关键流程线上闭环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轨迹、统计、日志联查可用</a:t>
            </a:r>
          </a:p>
        </p:txBody>
      </p:sp>
      <p:sp>
        <p:nvSpPr>
          <p:cNvPr id="40" name="Shape 40"/>
          <p:cNvSpPr/>
          <p:nvPr/>
        </p:nvSpPr>
        <p:spPr>
          <a:xfrm>
            <a:off x="3429000" y="2697480"/>
            <a:ext cx="2514600" cy="21488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3429000" y="2697480"/>
            <a:ext cx="91440" cy="214884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3630168" y="283464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7A8C7"/>
                </a:solidFill>
                <a:latin typeface="Microsoft YaHei"/>
                <a:ea typeface="Microsoft YaHei"/>
              </a:rPr>
              <a:t>数据成效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30168" y="3200400"/>
            <a:ext cx="2130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统计口径逐步统一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图表汇总与导出一致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同步批次可追踪可对账</a:t>
            </a:r>
          </a:p>
        </p:txBody>
      </p:sp>
      <p:sp>
        <p:nvSpPr>
          <p:cNvPr id="50" name="Shape 50"/>
          <p:cNvSpPr/>
          <p:nvPr/>
        </p:nvSpPr>
        <p:spPr>
          <a:xfrm>
            <a:off x="6144768" y="2697480"/>
            <a:ext cx="2514600" cy="21488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6144768" y="2697480"/>
            <a:ext cx="91440" cy="2148840"/>
          </a:xfrm>
          <a:prstGeom prst="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6345936" y="283464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2E8B57"/>
                </a:solidFill>
                <a:latin typeface="Microsoft YaHei"/>
                <a:ea typeface="Microsoft YaHei"/>
              </a:rPr>
              <a:t>智能成效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45936" y="3200400"/>
            <a:ext cx="2130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问答、工具调用、简报、态势分析落地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附件研判与会话导出留痕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评价反馈进入治理池</a:t>
            </a:r>
          </a:p>
        </p:txBody>
      </p:sp>
      <p:sp>
        <p:nvSpPr>
          <p:cNvPr id="60" name="Shape 60"/>
          <p:cNvSpPr/>
          <p:nvPr/>
        </p:nvSpPr>
        <p:spPr>
          <a:xfrm>
            <a:off x="8860536" y="2697480"/>
            <a:ext cx="2514600" cy="21488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8860536" y="2697480"/>
            <a:ext cx="91440" cy="2148840"/>
          </a:xfrm>
          <a:prstGeom prst="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9061704" y="283464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D8A23A"/>
                </a:solidFill>
                <a:latin typeface="Microsoft YaHei"/>
                <a:ea typeface="Microsoft YaHei"/>
              </a:rPr>
              <a:t>安全成效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061704" y="3200400"/>
            <a:ext cx="2130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权限最小化、敏感操作审计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导入导出安全防护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过程可见、责任可溯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六、创新亮点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以工程化方式解决智能应用“可用、可信、可控、可持续”的关键问题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1298448"/>
            <a:ext cx="333756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1298448"/>
            <a:ext cx="91440" cy="1828800"/>
          </a:xfrm>
          <a:prstGeom prst="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86968" y="1435608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F5EA8"/>
                </a:solidFill>
                <a:latin typeface="Microsoft YaHei"/>
                <a:ea typeface="Microsoft YaHei"/>
              </a:rPr>
              <a:t>业务数据与 AI 解耦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968" y="1801368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AI 专注推理与编排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业务数据通过统一 Provider 供应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底层表结构调整优先在数据侧消化</a:t>
            </a:r>
          </a:p>
        </p:txBody>
      </p:sp>
      <p:sp>
        <p:nvSpPr>
          <p:cNvPr id="30" name="Shape 30"/>
          <p:cNvSpPr/>
          <p:nvPr/>
        </p:nvSpPr>
        <p:spPr>
          <a:xfrm>
            <a:off x="4251960" y="1298448"/>
            <a:ext cx="333756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251960" y="1298448"/>
            <a:ext cx="91440" cy="182880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4453128" y="1435608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7A8C7"/>
                </a:solidFill>
                <a:latin typeface="Microsoft YaHei"/>
                <a:ea typeface="Microsoft YaHei"/>
              </a:rPr>
              <a:t>结构化直出优先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53128" y="1801368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明确事实查询不交给模型猜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后台标准化组装结果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降低幻觉与误评样本污染</a:t>
            </a:r>
          </a:p>
        </p:txBody>
      </p:sp>
      <p:sp>
        <p:nvSpPr>
          <p:cNvPr id="40" name="Shape 40"/>
          <p:cNvSpPr/>
          <p:nvPr/>
        </p:nvSpPr>
        <p:spPr>
          <a:xfrm>
            <a:off x="7818120" y="1298448"/>
            <a:ext cx="333756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18120" y="1298448"/>
            <a:ext cx="91440" cy="1828800"/>
          </a:xfrm>
          <a:prstGeom prst="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8019288" y="1435608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2E8B57"/>
                </a:solidFill>
                <a:latin typeface="Microsoft YaHei"/>
                <a:ea typeface="Microsoft YaHei"/>
              </a:rPr>
              <a:t>案件复盘可控闭环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19288" y="1801368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上传、解析、查看、AI 提取、冲突比对分阶段确认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长篇笔录分段提取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删除联动清理事实要素</a:t>
            </a:r>
          </a:p>
        </p:txBody>
      </p:sp>
      <p:sp>
        <p:nvSpPr>
          <p:cNvPr id="50" name="Shape 50"/>
          <p:cNvSpPr/>
          <p:nvPr/>
        </p:nvSpPr>
        <p:spPr>
          <a:xfrm>
            <a:off x="685800" y="3429000"/>
            <a:ext cx="333756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685800" y="3429000"/>
            <a:ext cx="91440" cy="1828800"/>
          </a:xfrm>
          <a:prstGeom prst="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86968" y="3566160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D8A23A"/>
                </a:solidFill>
                <a:latin typeface="Microsoft YaHei"/>
                <a:ea typeface="Microsoft YaHei"/>
              </a:rPr>
              <a:t>多模态稳态落地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86968" y="3931920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图片与常见办公文档进入研判上下文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在线图文理解、离线明确边界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会话导出保留附件说明</a:t>
            </a:r>
          </a:p>
        </p:txBody>
      </p:sp>
      <p:sp>
        <p:nvSpPr>
          <p:cNvPr id="60" name="Shape 60"/>
          <p:cNvSpPr/>
          <p:nvPr/>
        </p:nvSpPr>
        <p:spPr>
          <a:xfrm>
            <a:off x="4251960" y="3429000"/>
            <a:ext cx="333756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4251960" y="3429000"/>
            <a:ext cx="91440" cy="1828800"/>
          </a:xfrm>
          <a:prstGeom prst="rect">
            <a:avLst/>
          </a:prstGeom>
          <a:solidFill>
            <a:srgbClr val="C84A4A"/>
          </a:solidFill>
          <a:ln w="10000">
            <a:solidFill>
              <a:srgbClr val="C84A4A"/>
            </a:solidFill>
          </a:ln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4453128" y="3566160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C84A4A"/>
                </a:solidFill>
                <a:latin typeface="Microsoft YaHei"/>
                <a:ea typeface="Microsoft YaHei"/>
              </a:rPr>
              <a:t>治理审计一体化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453128" y="3931920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授权审计、心跳监控、意图纠错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评分反馈与样本治理闭环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启动健康检查与失败留痕</a:t>
            </a:r>
          </a:p>
        </p:txBody>
      </p:sp>
      <p:sp>
        <p:nvSpPr>
          <p:cNvPr id="70" name="Shape 70"/>
          <p:cNvSpPr/>
          <p:nvPr/>
        </p:nvSpPr>
        <p:spPr>
          <a:xfrm>
            <a:off x="7818120" y="3429000"/>
            <a:ext cx="333756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7818120" y="3429000"/>
            <a:ext cx="91440" cy="1828800"/>
          </a:xfrm>
          <a:prstGeom prst="rect">
            <a:avLst/>
          </a:prstGeom>
          <a:solidFill>
            <a:srgbClr val="7A5AF8"/>
          </a:solidFill>
          <a:ln w="10000">
            <a:solidFill>
              <a:srgbClr val="7A5AF8"/>
            </a:solidFill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8019288" y="3566160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7A5AF8"/>
                </a:solidFill>
                <a:latin typeface="Microsoft YaHei"/>
                <a:ea typeface="Microsoft YaHei"/>
              </a:rPr>
              <a:t>汇报材料友好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019288" y="3931920"/>
            <a:ext cx="2953512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表格图片导出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导出口径统一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长数字保留与公式注入防护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七、推广前景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以“标准业务流程 + 可治理数据服务 + 智能编排能力”形成可复制方案</a:t>
            </a:r>
          </a:p>
        </p:txBody>
      </p:sp>
      <p:sp>
        <p:nvSpPr>
          <p:cNvPr id="20" name="Shape 20"/>
          <p:cNvSpPr/>
          <p:nvPr/>
        </p:nvSpPr>
        <p:spPr>
          <a:xfrm>
            <a:off x="777240" y="1298448"/>
            <a:ext cx="5257800" cy="4023360"/>
          </a:xfrm>
          <a:prstGeom prst="roundRect">
            <a:avLst/>
          </a:prstGeom>
          <a:solidFill>
            <a:srgbClr val="F5F8FC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1051560" y="160020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000" b="1">
                <a:solidFill>
                  <a:srgbClr val="10233F"/>
                </a:solidFill>
                <a:latin typeface="Microsoft YaHei"/>
                <a:ea typeface="Microsoft YaHei"/>
              </a:rPr>
              <a:t>可推广方向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8992" y="2121408"/>
            <a:ext cx="4663440" cy="2514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情报指挥：态势感知、预警研判、指挥复盘</a:t>
            </a:r>
          </a:p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治安防控：警情趋势、区域热点、风险治理</a:t>
            </a:r>
          </a:p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经侦/刑侦：线索串并、图谱穿透、材料复盘</a:t>
            </a:r>
          </a:p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社区警务：知识问答、数据看板、勤务协同</a:t>
            </a:r>
          </a:p>
        </p:txBody>
      </p:sp>
      <p:sp>
        <p:nvSpPr>
          <p:cNvPr id="30" name="Shape 30"/>
          <p:cNvSpPr/>
          <p:nvPr/>
        </p:nvSpPr>
        <p:spPr>
          <a:xfrm>
            <a:off x="6355080" y="1298448"/>
            <a:ext cx="4983480" cy="40233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6629400" y="160020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000" b="1">
                <a:solidFill>
                  <a:srgbClr val="10233F"/>
                </a:solidFill>
                <a:latin typeface="Microsoft YaHei"/>
                <a:ea typeface="Microsoft YaHei"/>
              </a:rPr>
              <a:t>推广条件与路径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6832" y="2121408"/>
            <a:ext cx="4389120" cy="2514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先固化数据口径、权限标签与责任主体</a:t>
            </a:r>
          </a:p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再以数据集/工具方式注册新业务能力</a:t>
            </a:r>
          </a:p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配套离线评测、抽检回归和运维指引</a:t>
            </a:r>
          </a:p>
          <a:p>
            <a:pPr marL="320000" indent="-180000">
              <a:buChar char="•"/>
            </a:pPr>
            <a:r>
              <a:rPr lang="zh-CN" sz="1500">
                <a:solidFill>
                  <a:srgbClr val="344054"/>
                </a:solidFill>
                <a:latin typeface="Microsoft YaHei"/>
                <a:ea typeface="Microsoft YaHei"/>
              </a:rPr>
              <a:t>按“试点场景—标准模板—多警种复制”推进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0120" y="5614416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1600" b="1">
                <a:solidFill>
                  <a:srgbClr val="1F5EA8"/>
                </a:solidFill>
                <a:latin typeface="Microsoft YaHei"/>
                <a:ea typeface="Microsoft YaHei"/>
              </a:rPr>
              <a:t>总体判断：当前已具备从单点功能复制到平台化能力输出的基础，可支撑更多公安业务场景快速接入。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94360" y="530352"/>
            <a:ext cx="109728" cy="420624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86384" y="438912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00" b="1">
                <a:solidFill>
                  <a:srgbClr val="10233F"/>
                </a:solidFill>
                <a:latin typeface="Microsoft YaHei"/>
                <a:ea typeface="Microsoft YaHei"/>
              </a:rPr>
              <a:t>八、阶段性结论与下一步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6355080"/>
            <a:ext cx="10972800" cy="9144"/>
          </a:xfrm>
          <a:prstGeom prst="rect">
            <a:avLst/>
          </a:prstGeom>
          <a:solidFill>
            <a:srgbClr val="D8E2EE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21792" y="64190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950">
                <a:solidFill>
                  <a:srgbClr val="98A2B3"/>
                </a:solidFill>
                <a:latin typeface="Microsoft YaHei"/>
                <a:ea typeface="Microsoft YaHei"/>
              </a:rPr>
              <a:t>数智侦查项目阶段性汇报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59536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150">
                <a:solidFill>
                  <a:srgbClr val="667085"/>
                </a:solidFill>
                <a:latin typeface="Microsoft YaHei"/>
                <a:ea typeface="Microsoft YaHei"/>
              </a:rPr>
              <a:t>持续把业务功能做全做稳，把人工智能功能做准做控做运营</a:t>
            </a:r>
          </a:p>
        </p:txBody>
      </p:sp>
      <p:sp>
        <p:nvSpPr>
          <p:cNvPr id="20" name="Shape 20"/>
          <p:cNvSpPr/>
          <p:nvPr/>
        </p:nvSpPr>
        <p:spPr>
          <a:xfrm>
            <a:off x="713232" y="1325880"/>
            <a:ext cx="10972800" cy="1143000"/>
          </a:xfrm>
          <a:prstGeom prst="roundRect">
            <a:avLst/>
          </a:prstGeom>
          <a:solidFill>
            <a:srgbClr val="10233F"/>
          </a:solidFill>
          <a:ln w="10000">
            <a:solidFill>
              <a:srgbClr val="10233F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1005840" y="157276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</a:rPr>
              <a:t>项目已完成从“基础平台建设”到“业务协同运行 + 人工智能深度赋能”的关键跨越</a:t>
            </a:r>
          </a:p>
        </p:txBody>
      </p:sp>
      <p:sp>
        <p:nvSpPr>
          <p:cNvPr id="30" name="Shape 30"/>
          <p:cNvSpPr/>
          <p:nvPr/>
        </p:nvSpPr>
        <p:spPr>
          <a:xfrm>
            <a:off x="713232" y="2788920"/>
            <a:ext cx="2514600" cy="20574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13232" y="2788920"/>
            <a:ext cx="91440" cy="2057400"/>
          </a:xfrm>
          <a:prstGeom prst="rect">
            <a:avLst/>
          </a:prstGeom>
          <a:solidFill>
            <a:srgbClr val="1F5EA8"/>
          </a:solidFill>
          <a:ln w="10000">
            <a:solidFill>
              <a:srgbClr val="1F5EA8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292608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F5EA8"/>
                </a:solidFill>
                <a:latin typeface="Microsoft YaHei"/>
                <a:ea typeface="Microsoft YaHei"/>
              </a:rPr>
              <a:t>能力收口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3291840"/>
            <a:ext cx="2130552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补齐高频场景剩余能力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缩短关键操作路径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强化异常提示与容错</a:t>
            </a:r>
          </a:p>
        </p:txBody>
      </p:sp>
      <p:sp>
        <p:nvSpPr>
          <p:cNvPr id="40" name="Shape 40"/>
          <p:cNvSpPr/>
          <p:nvPr/>
        </p:nvSpPr>
        <p:spPr>
          <a:xfrm>
            <a:off x="3429000" y="2788920"/>
            <a:ext cx="2514600" cy="20574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3429000" y="2788920"/>
            <a:ext cx="91440" cy="2057400"/>
          </a:xfrm>
          <a:prstGeom prst="rect">
            <a:avLst/>
          </a:prstGeom>
          <a:solidFill>
            <a:srgbClr val="17A8C7"/>
          </a:solidFill>
          <a:ln w="10000">
            <a:solidFill>
              <a:srgbClr val="17A8C7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3630168" y="292608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17A8C7"/>
                </a:solidFill>
                <a:latin typeface="Microsoft YaHei"/>
                <a:ea typeface="Microsoft YaHei"/>
              </a:rPr>
              <a:t>智能深化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30168" y="3291840"/>
            <a:ext cx="2130552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路由更准、工具更稳、检索更强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多模态与文档理解继续深化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样本治理与质量闭环自动化</a:t>
            </a:r>
          </a:p>
        </p:txBody>
      </p:sp>
      <p:sp>
        <p:nvSpPr>
          <p:cNvPr id="50" name="Shape 50"/>
          <p:cNvSpPr/>
          <p:nvPr/>
        </p:nvSpPr>
        <p:spPr>
          <a:xfrm>
            <a:off x="6144768" y="2788920"/>
            <a:ext cx="2514600" cy="20574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6144768" y="2788920"/>
            <a:ext cx="91440" cy="2057400"/>
          </a:xfrm>
          <a:prstGeom prst="rect">
            <a:avLst/>
          </a:prstGeom>
          <a:solidFill>
            <a:srgbClr val="D8A23A"/>
          </a:solidFill>
          <a:ln w="10000">
            <a:solidFill>
              <a:srgbClr val="D8A23A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6345936" y="292608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D8A23A"/>
                </a:solidFill>
                <a:latin typeface="Microsoft YaHei"/>
                <a:ea typeface="Microsoft YaHei"/>
              </a:rPr>
              <a:t>风险可控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45936" y="3291840"/>
            <a:ext cx="2130552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高风险写操作人机协同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权限最小化与敏感操作审计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幻觉、误用、越权工程化防线</a:t>
            </a:r>
          </a:p>
        </p:txBody>
      </p:sp>
      <p:sp>
        <p:nvSpPr>
          <p:cNvPr id="60" name="Shape 60"/>
          <p:cNvSpPr/>
          <p:nvPr/>
        </p:nvSpPr>
        <p:spPr>
          <a:xfrm>
            <a:off x="8860536" y="2788920"/>
            <a:ext cx="2514600" cy="20574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8860536" y="2788920"/>
            <a:ext cx="91440" cy="2057400"/>
          </a:xfrm>
          <a:prstGeom prst="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9061704" y="292608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00" b="1">
                <a:solidFill>
                  <a:srgbClr val="2E8B57"/>
                </a:solidFill>
                <a:latin typeface="Microsoft YaHei"/>
                <a:ea typeface="Microsoft YaHei"/>
              </a:rPr>
              <a:t>长期运营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061704" y="3291840"/>
            <a:ext cx="2130552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元数据化与可插拔接入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运维监控与质量例会</a:t>
            </a:r>
          </a:p>
          <a:p>
            <a:pPr marL="320000" indent="-180000">
              <a:buChar char="•"/>
            </a:pPr>
            <a:r>
              <a:rPr lang="zh-CN" sz="1350">
                <a:solidFill>
                  <a:srgbClr val="344054"/>
                </a:solidFill>
                <a:latin typeface="Microsoft YaHei"/>
                <a:ea typeface="Microsoft YaHei"/>
              </a:rPr>
              <a:t>模板化拓展至更多业务领域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zc">
  <a:themeElements>
    <a:clrScheme name="Hczc">
      <a:dk1>
        <a:srgbClr val="10233F"/>
      </a:dk1>
      <a:lt1>
        <a:srgbClr val="FFFFFF"/>
      </a:lt1>
      <a:dk2>
        <a:srgbClr val="203040"/>
      </a:dk2>
      <a:lt2>
        <a:srgbClr val="F5F8FC"/>
      </a:lt2>
      <a:accent1>
        <a:srgbClr val="1F5EA8"/>
      </a:accent1>
      <a:accent2>
        <a:srgbClr val="17A8C7"/>
      </a:accent2>
      <a:accent3>
        <a:srgbClr val="2E8B57"/>
      </a:accent3>
      <a:accent4>
        <a:srgbClr val="D8A23A"/>
      </a:accent4>
      <a:accent5>
        <a:srgbClr val="7A5AF8"/>
      </a:accent5>
      <a:accent6>
        <a:srgbClr val="C84A4A"/>
      </a:accent6>
      <a:hlink>
        <a:srgbClr val="1F5EA8"/>
      </a:hlink>
      <a:folHlink>
        <a:srgbClr val="7A5AF8"/>
      </a:folHlink>
    </a:clrScheme>
    <a:fontScheme name="Hczc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Hczc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</Application>
  <PresentationFormat>宽屏</PresentationFormat>
  <Slides>9</Slides>
  <Notes>0</Notes>
  <HiddenSlides>0</HiddenSlide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数智侦查项目阶段性汇报</dc:title>
  <dc:creator>Codex</dc:creator>
  <cp:lastModifiedBy>Codex</cp:lastModifiedBy>
  <dcterms:created xsi:type="dcterms:W3CDTF">2026-05-20T12:51:20Z</dcterms:created>
  <dcterms:modified xsi:type="dcterms:W3CDTF">2026-05-20T12:51:20Z</dcterms:modified>
</cp:coreProperties>
</file>